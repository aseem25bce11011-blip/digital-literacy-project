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1344"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FB4B16E-3F16-4421-8BE3-E6DF5251ECA0}"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C2461E-1DFF-49DE-824B-16DE726F61C9}" type="slidenum">
              <a:rPr lang="en-IN" smtClean="0"/>
              <a:t>‹#›</a:t>
            </a:fld>
            <a:endParaRPr lang="en-IN"/>
          </a:p>
        </p:txBody>
      </p:sp>
    </p:spTree>
    <p:extLst>
      <p:ext uri="{BB962C8B-B14F-4D97-AF65-F5344CB8AC3E}">
        <p14:creationId xmlns:p14="http://schemas.microsoft.com/office/powerpoint/2010/main" val="2945386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FB4B16E-3F16-4421-8BE3-E6DF5251ECA0}"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C2461E-1DFF-49DE-824B-16DE726F61C9}" type="slidenum">
              <a:rPr lang="en-IN" smtClean="0"/>
              <a:t>‹#›</a:t>
            </a:fld>
            <a:endParaRPr lang="en-IN"/>
          </a:p>
        </p:txBody>
      </p:sp>
    </p:spTree>
    <p:extLst>
      <p:ext uri="{BB962C8B-B14F-4D97-AF65-F5344CB8AC3E}">
        <p14:creationId xmlns:p14="http://schemas.microsoft.com/office/powerpoint/2010/main" val="3444284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B4B16E-3F16-4421-8BE3-E6DF5251ECA0}"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C2461E-1DFF-49DE-824B-16DE726F61C9}" type="slidenum">
              <a:rPr lang="en-IN" smtClean="0"/>
              <a:t>‹#›</a:t>
            </a:fld>
            <a:endParaRPr lang="en-IN"/>
          </a:p>
        </p:txBody>
      </p:sp>
    </p:spTree>
    <p:extLst>
      <p:ext uri="{BB962C8B-B14F-4D97-AF65-F5344CB8AC3E}">
        <p14:creationId xmlns:p14="http://schemas.microsoft.com/office/powerpoint/2010/main" val="982236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FB4B16E-3F16-4421-8BE3-E6DF5251ECA0}" type="datetimeFigureOut">
              <a:rPr lang="en-IN" smtClean="0"/>
              <a:t>30-03-2026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C2461E-1DFF-49DE-824B-16DE726F61C9}" type="slidenum">
              <a:rPr lang="en-IN" smtClean="0"/>
              <a:t>‹#›</a:t>
            </a:fld>
            <a:endParaRPr lang="en-IN"/>
          </a:p>
        </p:txBody>
      </p:sp>
    </p:spTree>
    <p:extLst>
      <p:ext uri="{BB962C8B-B14F-4D97-AF65-F5344CB8AC3E}">
        <p14:creationId xmlns:p14="http://schemas.microsoft.com/office/powerpoint/2010/main" val="300662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FB4B16E-3F16-4421-8BE3-E6DF5251ECA0}" type="datetimeFigureOut">
              <a:rPr lang="en-IN" smtClean="0"/>
              <a:t>30-03-2026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8C2461E-1DFF-49DE-824B-16DE726F61C9}" type="slidenum">
              <a:rPr lang="en-IN" smtClean="0"/>
              <a:t>‹#›</a:t>
            </a:fld>
            <a:endParaRPr lang="en-IN"/>
          </a:p>
        </p:txBody>
      </p:sp>
    </p:spTree>
    <p:extLst>
      <p:ext uri="{BB962C8B-B14F-4D97-AF65-F5344CB8AC3E}">
        <p14:creationId xmlns:p14="http://schemas.microsoft.com/office/powerpoint/2010/main" val="1308102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FB4B16E-3F16-4421-8BE3-E6DF5251ECA0}" type="datetimeFigureOut">
              <a:rPr lang="en-IN" smtClean="0"/>
              <a:t>30-03-2026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8C2461E-1DFF-49DE-824B-16DE726F61C9}" type="slidenum">
              <a:rPr lang="en-IN" smtClean="0"/>
              <a:t>‹#›</a:t>
            </a:fld>
            <a:endParaRPr lang="en-IN"/>
          </a:p>
        </p:txBody>
      </p:sp>
    </p:spTree>
    <p:extLst>
      <p:ext uri="{BB962C8B-B14F-4D97-AF65-F5344CB8AC3E}">
        <p14:creationId xmlns:p14="http://schemas.microsoft.com/office/powerpoint/2010/main" val="611064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B4B16E-3F16-4421-8BE3-E6DF5251ECA0}" type="datetimeFigureOut">
              <a:rPr lang="en-IN" smtClean="0"/>
              <a:t>30-03-2026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8C2461E-1DFF-49DE-824B-16DE726F61C9}" type="slidenum">
              <a:rPr lang="en-IN" smtClean="0"/>
              <a:t>‹#›</a:t>
            </a:fld>
            <a:endParaRPr lang="en-IN"/>
          </a:p>
        </p:txBody>
      </p:sp>
    </p:spTree>
    <p:extLst>
      <p:ext uri="{BB962C8B-B14F-4D97-AF65-F5344CB8AC3E}">
        <p14:creationId xmlns:p14="http://schemas.microsoft.com/office/powerpoint/2010/main" val="1934835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B4B16E-3F16-4421-8BE3-E6DF5251ECA0}" type="datetimeFigureOut">
              <a:rPr lang="en-IN" smtClean="0"/>
              <a:t>30-03-2026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C2461E-1DFF-49DE-824B-16DE726F61C9}" type="slidenum">
              <a:rPr lang="en-IN" smtClean="0"/>
              <a:t>‹#›</a:t>
            </a:fld>
            <a:endParaRPr lang="en-IN"/>
          </a:p>
        </p:txBody>
      </p:sp>
    </p:spTree>
    <p:extLst>
      <p:ext uri="{BB962C8B-B14F-4D97-AF65-F5344CB8AC3E}">
        <p14:creationId xmlns:p14="http://schemas.microsoft.com/office/powerpoint/2010/main" val="4282749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B4B16E-3F16-4421-8BE3-E6DF5251ECA0}" type="datetimeFigureOut">
              <a:rPr lang="en-IN" smtClean="0"/>
              <a:t>30-03-2026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C2461E-1DFF-49DE-824B-16DE726F61C9}" type="slidenum">
              <a:rPr lang="en-IN" smtClean="0"/>
              <a:t>‹#›</a:t>
            </a:fld>
            <a:endParaRPr lang="en-IN"/>
          </a:p>
        </p:txBody>
      </p:sp>
    </p:spTree>
    <p:extLst>
      <p:ext uri="{BB962C8B-B14F-4D97-AF65-F5344CB8AC3E}">
        <p14:creationId xmlns:p14="http://schemas.microsoft.com/office/powerpoint/2010/main" val="3475104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FB4B16E-3F16-4421-8BE3-E6DF5251ECA0}"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C2461E-1DFF-49DE-824B-16DE726F61C9}" type="slidenum">
              <a:rPr lang="en-IN" smtClean="0"/>
              <a:t>‹#›</a:t>
            </a:fld>
            <a:endParaRPr lang="en-IN"/>
          </a:p>
        </p:txBody>
      </p:sp>
    </p:spTree>
    <p:extLst>
      <p:ext uri="{BB962C8B-B14F-4D97-AF65-F5344CB8AC3E}">
        <p14:creationId xmlns:p14="http://schemas.microsoft.com/office/powerpoint/2010/main" val="148839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FB4B16E-3F16-4421-8BE3-E6DF5251ECA0}" type="datetimeFigureOut">
              <a:rPr lang="en-IN" smtClean="0"/>
              <a:t>30-03-2026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C2461E-1DFF-49DE-824B-16DE726F61C9}" type="slidenum">
              <a:rPr lang="en-IN" smtClean="0"/>
              <a:t>‹#›</a:t>
            </a:fld>
            <a:endParaRPr lang="en-IN"/>
          </a:p>
        </p:txBody>
      </p:sp>
    </p:spTree>
    <p:extLst>
      <p:ext uri="{BB962C8B-B14F-4D97-AF65-F5344CB8AC3E}">
        <p14:creationId xmlns:p14="http://schemas.microsoft.com/office/powerpoint/2010/main" val="161295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B4B16E-3F16-4421-8BE3-E6DF5251ECA0}" type="datetimeFigureOut">
              <a:rPr lang="en-IN" smtClean="0"/>
              <a:t>30-03-2026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C2461E-1DFF-49DE-824B-16DE726F61C9}" type="slidenum">
              <a:rPr lang="en-IN" smtClean="0"/>
              <a:t>‹#›</a:t>
            </a:fld>
            <a:endParaRPr lang="en-IN"/>
          </a:p>
        </p:txBody>
      </p:sp>
    </p:spTree>
    <p:extLst>
      <p:ext uri="{BB962C8B-B14F-4D97-AF65-F5344CB8AC3E}">
        <p14:creationId xmlns:p14="http://schemas.microsoft.com/office/powerpoint/2010/main" val="23664771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476672"/>
            <a:ext cx="7772400" cy="1470025"/>
          </a:xfrm>
        </p:spPr>
        <p:txBody>
          <a:bodyPr/>
          <a:lstStyle/>
          <a:p>
            <a:r>
              <a:rPr lang="en-IN" b="1" dirty="0" smtClean="0">
                <a:effectLst>
                  <a:outerShdw blurRad="38100" dist="38100" dir="2700000" algn="tl">
                    <a:srgbClr val="000000">
                      <a:alpha val="43137"/>
                    </a:srgbClr>
                  </a:outerShdw>
                </a:effectLst>
              </a:rPr>
              <a:t>Digital Literacy Project</a:t>
            </a:r>
            <a:endParaRPr lang="en-IN" b="1"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395536" y="2708920"/>
            <a:ext cx="6400800" cy="1752600"/>
          </a:xfrm>
        </p:spPr>
        <p:txBody>
          <a:bodyPr>
            <a:normAutofit/>
          </a:bodyPr>
          <a:lstStyle/>
          <a:p>
            <a:pPr algn="l"/>
            <a:r>
              <a:rPr lang="en-US" dirty="0" smtClean="0">
                <a:solidFill>
                  <a:schemeClr val="tx1"/>
                </a:solidFill>
              </a:rPr>
              <a:t>Name : </a:t>
            </a:r>
            <a:r>
              <a:rPr lang="en-US" dirty="0" err="1" smtClean="0">
                <a:solidFill>
                  <a:schemeClr val="tx1"/>
                </a:solidFill>
              </a:rPr>
              <a:t>Aseem</a:t>
            </a:r>
            <a:r>
              <a:rPr lang="en-US" dirty="0" smtClean="0">
                <a:solidFill>
                  <a:schemeClr val="tx1"/>
                </a:solidFill>
              </a:rPr>
              <a:t> </a:t>
            </a:r>
            <a:r>
              <a:rPr lang="en-US" dirty="0" err="1" smtClean="0">
                <a:solidFill>
                  <a:schemeClr val="tx1"/>
                </a:solidFill>
              </a:rPr>
              <a:t>Udhbhav</a:t>
            </a:r>
            <a:endParaRPr lang="en-US" dirty="0" smtClean="0">
              <a:solidFill>
                <a:schemeClr val="tx1"/>
              </a:solidFill>
            </a:endParaRPr>
          </a:p>
          <a:p>
            <a:pPr algn="l"/>
            <a:r>
              <a:rPr lang="en-US" dirty="0" smtClean="0">
                <a:solidFill>
                  <a:schemeClr val="tx1"/>
                </a:solidFill>
              </a:rPr>
              <a:t>Registration Number : 25</a:t>
            </a:r>
            <a:r>
              <a:rPr lang="en-IN" dirty="0" smtClean="0">
                <a:solidFill>
                  <a:schemeClr val="tx1"/>
                </a:solidFill>
              </a:rPr>
              <a:t>BCE11011</a:t>
            </a:r>
          </a:p>
          <a:p>
            <a:pPr algn="l"/>
            <a:r>
              <a:rPr lang="en-US" dirty="0" err="1" smtClean="0">
                <a:solidFill>
                  <a:schemeClr val="tx1"/>
                </a:solidFill>
              </a:rPr>
              <a:t>Programme</a:t>
            </a:r>
            <a:r>
              <a:rPr lang="en-US" dirty="0" smtClean="0">
                <a:solidFill>
                  <a:schemeClr val="tx1"/>
                </a:solidFill>
              </a:rPr>
              <a:t> : </a:t>
            </a:r>
            <a:r>
              <a:rPr lang="en-US" dirty="0" err="1" smtClean="0">
                <a:solidFill>
                  <a:schemeClr val="tx1"/>
                </a:solidFill>
              </a:rPr>
              <a:t>B.Tech</a:t>
            </a:r>
            <a:endParaRPr lang="en-IN" dirty="0">
              <a:solidFill>
                <a:schemeClr val="tx1"/>
              </a:solidFill>
            </a:endParaRPr>
          </a:p>
        </p:txBody>
      </p:sp>
    </p:spTree>
    <p:extLst>
      <p:ext uri="{BB962C8B-B14F-4D97-AF65-F5344CB8AC3E}">
        <p14:creationId xmlns:p14="http://schemas.microsoft.com/office/powerpoint/2010/main" val="2098562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effectLst>
                  <a:outerShdw blurRad="38100" dist="38100" dir="2700000" algn="tl">
                    <a:srgbClr val="000000">
                      <a:alpha val="43137"/>
                    </a:srgbClr>
                  </a:outerShdw>
                </a:effectLst>
              </a:rPr>
              <a:t>TASK 1: INFOGRAPHIC</a:t>
            </a:r>
            <a:endParaRPr lang="en-IN"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70000" lnSpcReduction="20000"/>
          </a:bodyPr>
          <a:lstStyle/>
          <a:p>
            <a:r>
              <a:rPr lang="en-US" dirty="0" smtClean="0"/>
              <a:t>The </a:t>
            </a:r>
            <a:r>
              <a:rPr lang="en-US" dirty="0" err="1" smtClean="0"/>
              <a:t>infographic</a:t>
            </a:r>
            <a:r>
              <a:rPr lang="en-US" dirty="0" smtClean="0"/>
              <a:t> for this task was created using </a:t>
            </a:r>
            <a:r>
              <a:rPr lang="en-US" dirty="0" err="1" smtClean="0"/>
              <a:t>Canva</a:t>
            </a:r>
            <a:r>
              <a:rPr lang="en-US" dirty="0" smtClean="0"/>
              <a:t>, a user-friendly online design tool. It focuses on key aspects of digital literacy such as safe internet practices, professional online presence, and understanding digital tools. The goal was to present information in a visually appealing and easy-to-understand format using icons, colors, and minimal text.</a:t>
            </a:r>
          </a:p>
          <a:p>
            <a:r>
              <a:rPr lang="en-US" dirty="0" smtClean="0"/>
              <a:t>The design highlights how students can stay safe online by using strong passwords, avoiding suspicious links, and protecting personal information. It also emphasizes the importance of maintaining a professional digital identity, especially on platforms like LinkedIn and </a:t>
            </a:r>
            <a:r>
              <a:rPr lang="en-US" dirty="0" err="1" smtClean="0"/>
              <a:t>GitHub</a:t>
            </a:r>
            <a:r>
              <a:rPr lang="en-US" dirty="0" smtClean="0"/>
              <a:t>.</a:t>
            </a:r>
          </a:p>
          <a:p>
            <a:r>
              <a:rPr lang="en-US" dirty="0" smtClean="0"/>
              <a:t>One interesting aspect of this task was learning how visual elements can simplify complex concepts. However, selecting the right layout and balancing text with visuals was slightly challenging. Overall, this task helped me improve both my design skills and understanding of digital literacy.</a:t>
            </a:r>
          </a:p>
          <a:p>
            <a:endParaRPr lang="en-IN" dirty="0"/>
          </a:p>
        </p:txBody>
      </p:sp>
    </p:spTree>
    <p:extLst>
      <p:ext uri="{BB962C8B-B14F-4D97-AF65-F5344CB8AC3E}">
        <p14:creationId xmlns:p14="http://schemas.microsoft.com/office/powerpoint/2010/main" val="3105626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effectLst>
                  <a:outerShdw blurRad="38100" dist="38100" dir="2700000" algn="tl">
                    <a:srgbClr val="000000">
                      <a:alpha val="43137"/>
                    </a:srgbClr>
                  </a:outerShdw>
                </a:effectLst>
              </a:rPr>
              <a:t>TASK 2: DIGITAL PORTFOLIO</a:t>
            </a:r>
            <a:endParaRPr lang="en-IN"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70000" lnSpcReduction="20000"/>
          </a:bodyPr>
          <a:lstStyle/>
          <a:p>
            <a:r>
              <a:rPr lang="en-US" dirty="0" smtClean="0"/>
              <a:t>In this task, I created professional profiles on </a:t>
            </a:r>
            <a:r>
              <a:rPr lang="en-US" dirty="0" err="1" smtClean="0"/>
              <a:t>GitHub</a:t>
            </a:r>
            <a:r>
              <a:rPr lang="en-US" dirty="0" smtClean="0"/>
              <a:t>, LinkedIn, and </a:t>
            </a:r>
            <a:r>
              <a:rPr lang="en-US" dirty="0" err="1" smtClean="0"/>
              <a:t>Kaggle</a:t>
            </a:r>
            <a:r>
              <a:rPr lang="en-US" dirty="0" smtClean="0"/>
              <a:t> to build my digital portfolio. These platforms are essential for showcasing skills, networking, and creating a professional online presence. On </a:t>
            </a:r>
            <a:r>
              <a:rPr lang="en-US" dirty="0" err="1" smtClean="0"/>
              <a:t>GitHub</a:t>
            </a:r>
            <a:r>
              <a:rPr lang="en-US" dirty="0" smtClean="0"/>
              <a:t>, I created a profile README that includes my basic details and learning goals. On LinkedIn, I added my education details such as my degree, institution, and expected graduation year.</a:t>
            </a:r>
          </a:p>
          <a:p>
            <a:r>
              <a:rPr lang="en-US" dirty="0" err="1" smtClean="0"/>
              <a:t>Kaggle</a:t>
            </a:r>
            <a:r>
              <a:rPr lang="en-US" dirty="0" smtClean="0"/>
              <a:t> was explored as a platform for practicing coding and learning data science concepts. These platforms help students connect with professionals, participate in communities, and gain exposure to real-world opportunities.</a:t>
            </a:r>
          </a:p>
          <a:p>
            <a:r>
              <a:rPr lang="en-US" dirty="0" smtClean="0"/>
              <a:t>This task helped me understand the importance of maintaining a clean and professional online profile. Even small details like proper descriptions and organization can make a strong impression. It also showed how digital identity plays a key role in career development.</a:t>
            </a:r>
          </a:p>
          <a:p>
            <a:endParaRPr lang="en-IN" dirty="0"/>
          </a:p>
        </p:txBody>
      </p:sp>
    </p:spTree>
    <p:extLst>
      <p:ext uri="{BB962C8B-B14F-4D97-AF65-F5344CB8AC3E}">
        <p14:creationId xmlns:p14="http://schemas.microsoft.com/office/powerpoint/2010/main" val="3958409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effectLst>
                  <a:outerShdw blurRad="38100" dist="38100" dir="2700000" algn="tl">
                    <a:srgbClr val="000000">
                      <a:alpha val="43137"/>
                    </a:srgbClr>
                  </a:outerShdw>
                </a:effectLst>
              </a:rPr>
              <a:t>TASK 3: PLATFORMS</a:t>
            </a:r>
            <a:endParaRPr lang="en-IN"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70000" lnSpcReduction="20000"/>
          </a:bodyPr>
          <a:lstStyle/>
          <a:p>
            <a:r>
              <a:rPr lang="en-US" dirty="0" smtClean="0"/>
              <a:t>For this task, I explored both coding and collaboration platforms. I created an account on </a:t>
            </a:r>
            <a:r>
              <a:rPr lang="en-US" dirty="0" err="1" smtClean="0"/>
              <a:t>HackerRank</a:t>
            </a:r>
            <a:r>
              <a:rPr lang="en-US" dirty="0" smtClean="0"/>
              <a:t> and solved a beginner-level problem, which helped improve my logical thinking and programming skills. Coding platforms like </a:t>
            </a:r>
            <a:r>
              <a:rPr lang="en-US" dirty="0" err="1" smtClean="0"/>
              <a:t>HackerRank</a:t>
            </a:r>
            <a:r>
              <a:rPr lang="en-US" dirty="0" smtClean="0"/>
              <a:t> provide structured practice and instant feedback, which is useful for learning.</a:t>
            </a:r>
          </a:p>
          <a:p>
            <a:r>
              <a:rPr lang="en-US" dirty="0" smtClean="0"/>
              <a:t>In addition, I created a Google Form titled “Digital Literacy Awareness Quiz” with five questions, including both multiple-choice and short-answer types. The form was designed to test awareness among students. Responses were collected and viewed through Google Sheets, demonstrating how data can be organized and analyzed efficiently.</a:t>
            </a:r>
          </a:p>
          <a:p>
            <a:r>
              <a:rPr lang="en-US" dirty="0" smtClean="0"/>
              <a:t>These tools are very useful in academic environments as they support learning, assessment, and collaboration. This task helped me understand how digital platforms can enhance both individual learning and group activities.</a:t>
            </a:r>
          </a:p>
          <a:p>
            <a:pPr marL="0" indent="0">
              <a:buNone/>
            </a:pPr>
            <a:endParaRPr lang="en-IN" dirty="0"/>
          </a:p>
        </p:txBody>
      </p:sp>
    </p:spTree>
    <p:extLst>
      <p:ext uri="{BB962C8B-B14F-4D97-AF65-F5344CB8AC3E}">
        <p14:creationId xmlns:p14="http://schemas.microsoft.com/office/powerpoint/2010/main" val="303302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effectLst>
                  <a:outerShdw blurRad="38100" dist="38100" dir="2700000" algn="tl">
                    <a:srgbClr val="000000">
                      <a:alpha val="43137"/>
                    </a:srgbClr>
                  </a:outerShdw>
                </a:effectLst>
              </a:rPr>
              <a:t>TASK 4: EMAIL &amp; ETIQUETTE</a:t>
            </a:r>
            <a:endParaRPr lang="en-IN"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70000" lnSpcReduction="20000"/>
          </a:bodyPr>
          <a:lstStyle/>
          <a:p>
            <a:r>
              <a:rPr lang="en-US" dirty="0" smtClean="0"/>
              <a:t>In this task, I learned about professional email writing and responsible online communication. I drafted two emails — one requesting an assignment extension and another applying for an internship. Both emails followed proper structure, including a clear subject line, formal greeting, well-organized body, and proper closing.</a:t>
            </a:r>
          </a:p>
          <a:p>
            <a:r>
              <a:rPr lang="en-US" dirty="0" smtClean="0"/>
              <a:t>A situation where poor digital communication can cause problems is when a student sends an unclear or informal email to a professor. This may create a negative impression or lead to misunderstandings. For example, using casual language or not clearly stating the purpose can result in delayed responses.</a:t>
            </a:r>
          </a:p>
          <a:p>
            <a:r>
              <a:rPr lang="en-US" dirty="0" smtClean="0"/>
              <a:t>Such issues can be avoided by maintaining a polite tone, writing clearly, and following proper email etiquette. This task helped me understand the importance of professionalism in digital communication.</a:t>
            </a:r>
          </a:p>
          <a:p>
            <a:pPr marL="0" indent="0">
              <a:buNone/>
            </a:pPr>
            <a:endParaRPr lang="en-IN" dirty="0"/>
          </a:p>
        </p:txBody>
      </p:sp>
    </p:spTree>
    <p:extLst>
      <p:ext uri="{BB962C8B-B14F-4D97-AF65-F5344CB8AC3E}">
        <p14:creationId xmlns:p14="http://schemas.microsoft.com/office/powerpoint/2010/main" val="1707409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effectLst>
                  <a:outerShdw blurRad="38100" dist="38100" dir="2700000" algn="tl">
                    <a:srgbClr val="000000">
                      <a:alpha val="43137"/>
                    </a:srgbClr>
                  </a:outerShdw>
                </a:effectLst>
              </a:rPr>
              <a:t>TASK 5: CYBERCRIME</a:t>
            </a:r>
            <a:endParaRPr lang="en-IN"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70000" lnSpcReduction="20000"/>
          </a:bodyPr>
          <a:lstStyle/>
          <a:p>
            <a:r>
              <a:rPr lang="en-US" dirty="0" smtClean="0"/>
              <a:t>This task focused on cybercrime awareness, specifically UPI and online payment fraud. I studied a real-life case involving a “digital arrest” scam, where fraudsters impersonate police officers and manipulate victims into transferring money.</a:t>
            </a:r>
          </a:p>
          <a:p>
            <a:r>
              <a:rPr lang="en-US" dirty="0" smtClean="0"/>
              <a:t>It was surprising to see how criminals use fear and psychological pressure rather than just technical methods. This shows that cybercrime often targets human emotions and lack of awareness.</a:t>
            </a:r>
          </a:p>
          <a:p>
            <a:r>
              <a:rPr lang="en-US" dirty="0" smtClean="0"/>
              <a:t>One important learning from this task is the need to stay calm and verify information before taking any action. As a result, I will be more cautious while handling unknown calls, links, or payment requests. I will also avoid sharing sensitive information like OTPs and passwords. This task increased my awareness and prepared me to stay safe online.</a:t>
            </a:r>
          </a:p>
          <a:p>
            <a:pPr marL="0" indent="0">
              <a:buNone/>
            </a:pPr>
            <a:endParaRPr lang="en-IN" dirty="0"/>
          </a:p>
        </p:txBody>
      </p:sp>
    </p:spTree>
    <p:extLst>
      <p:ext uri="{BB962C8B-B14F-4D97-AF65-F5344CB8AC3E}">
        <p14:creationId xmlns:p14="http://schemas.microsoft.com/office/powerpoint/2010/main" val="2038735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CONCLUSION</a:t>
            </a:r>
            <a:endParaRPr lang="en-IN"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85000" lnSpcReduction="20000"/>
          </a:bodyPr>
          <a:lstStyle/>
          <a:p>
            <a:r>
              <a:rPr lang="en-US" dirty="0" smtClean="0"/>
              <a:t>This project helped me develop a strong understanding of digital literacy, including online safety, professional communication, and cyber awareness. I gained practical experience in using digital platforms like </a:t>
            </a:r>
            <a:r>
              <a:rPr lang="en-US" dirty="0" err="1" smtClean="0"/>
              <a:t>GitHub</a:t>
            </a:r>
            <a:r>
              <a:rPr lang="en-US" dirty="0" smtClean="0"/>
              <a:t>, LinkedIn, </a:t>
            </a:r>
            <a:r>
              <a:rPr lang="en-US" dirty="0" err="1" smtClean="0"/>
              <a:t>Kaggle</a:t>
            </a:r>
            <a:r>
              <a:rPr lang="en-US" dirty="0" smtClean="0"/>
              <a:t>, </a:t>
            </a:r>
            <a:r>
              <a:rPr lang="en-US" dirty="0" err="1" smtClean="0"/>
              <a:t>HackerRank</a:t>
            </a:r>
            <a:r>
              <a:rPr lang="en-US" dirty="0" smtClean="0"/>
              <a:t>, and Google Forms.</a:t>
            </a:r>
          </a:p>
          <a:p>
            <a:r>
              <a:rPr lang="en-US" dirty="0" smtClean="0"/>
              <a:t>It also improved my ability to present information visually, communicate professionally, and identify online threats. Overall, this project enhanced my digital skills and prepared me to use technology responsibly and effectively in both academic and professional environments.</a:t>
            </a:r>
          </a:p>
          <a:p>
            <a:pPr marL="0" indent="0">
              <a:buNone/>
            </a:pPr>
            <a:endParaRPr lang="en-IN" dirty="0"/>
          </a:p>
        </p:txBody>
      </p:sp>
    </p:spTree>
    <p:extLst>
      <p:ext uri="{BB962C8B-B14F-4D97-AF65-F5344CB8AC3E}">
        <p14:creationId xmlns:p14="http://schemas.microsoft.com/office/powerpoint/2010/main" val="4465979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845</Words>
  <Application>Microsoft Office PowerPoint</Application>
  <PresentationFormat>On-screen Show (4:3)</PresentationFormat>
  <Paragraphs>27</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Digital Literacy Project</vt:lpstr>
      <vt:lpstr>TASK 1: INFOGRAPHIC</vt:lpstr>
      <vt:lpstr>TASK 2: DIGITAL PORTFOLIO</vt:lpstr>
      <vt:lpstr>TASK 3: PLATFORMS</vt:lpstr>
      <vt:lpstr>TASK 4: EMAIL &amp; ETIQUETTE</vt:lpstr>
      <vt:lpstr>TASK 5: CYBERCRIME</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Literacy Project</dc:title>
  <dc:creator>user</dc:creator>
  <cp:lastModifiedBy>user</cp:lastModifiedBy>
  <cp:revision>2</cp:revision>
  <dcterms:created xsi:type="dcterms:W3CDTF">2026-03-30T17:21:42Z</dcterms:created>
  <dcterms:modified xsi:type="dcterms:W3CDTF">2026-03-30T17:31:46Z</dcterms:modified>
</cp:coreProperties>
</file>